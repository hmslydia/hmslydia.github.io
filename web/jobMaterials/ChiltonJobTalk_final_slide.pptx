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922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304" userDrawn="1">
          <p15:clr>
            <a:srgbClr val="A4A3A4"/>
          </p15:clr>
        </p15:guide>
        <p15:guide id="2" pos="284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mes Landay" initials="JL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301" autoAdjust="0"/>
  </p:normalViewPr>
  <p:slideViewPr>
    <p:cSldViewPr snapToGrid="0" snapToObjects="1">
      <p:cViewPr>
        <p:scale>
          <a:sx n="68" d="100"/>
          <a:sy n="68" d="100"/>
        </p:scale>
        <p:origin x="-2064" y="-320"/>
      </p:cViewPr>
      <p:guideLst>
        <p:guide orient="horz" pos="2304"/>
        <p:guide pos="284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8" d="100"/>
        <a:sy n="98" d="100"/>
      </p:scale>
      <p:origin x="0" y="69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interSettings" Target="printerSettings/printerSettings1.bin"/><Relationship Id="rId6" Type="http://schemas.openxmlformats.org/officeDocument/2006/relationships/commentAuthors" Target="commentAuthor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ABA961-672B-4A4D-BD64-0296E924DBE2}" type="datetimeFigureOut">
              <a:rPr lang="en-US" smtClean="0"/>
              <a:t>3/31/16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8A20F3-E730-0F44-BF89-FBECBDD4E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088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B5335-6DBF-6846-A2A7-33D35D727D09}" type="datetimeFigureOut">
              <a:rPr lang="en-US" smtClean="0"/>
              <a:t>3/31/16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8B629-6CE0-F544-9517-F0AA30E2B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68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And demonstrated</a:t>
            </a:r>
            <a:r>
              <a:rPr lang="en-US" baseline="0" dirty="0" smtClean="0"/>
              <a:t> that adaptive crowd algorithms can solve problems that are</a:t>
            </a:r>
          </a:p>
          <a:p>
            <a:r>
              <a:rPr lang="en-US" baseline="0" dirty="0" smtClean="0"/>
              <a:t>hard, big, ill-defined, and require creativity.</a:t>
            </a:r>
          </a:p>
          <a:p>
            <a:endParaRPr lang="en-US" baseline="0" dirty="0" smtClean="0"/>
          </a:p>
          <a:p>
            <a:r>
              <a:rPr lang="en-US" baseline="0" dirty="0" smtClean="0"/>
              <a:t>You’ve been a great audience,</a:t>
            </a:r>
          </a:p>
          <a:p>
            <a:r>
              <a:rPr lang="en-US" baseline="0" dirty="0" smtClean="0"/>
              <a:t>I’m happy to take your questions!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58B629-6CE0-F544-9517-F0AA30E2BD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39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A41B-2AB1-D041-AD17-8C8682F9311B}" type="datetime1">
              <a:rPr lang="en-US" smtClean="0"/>
              <a:t>3/31/16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98DC-A4E7-1147-8FD9-30EF2F6E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01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AFC3C-4B17-3D49-AFC7-B31610E52475}" type="datetime1">
              <a:rPr lang="en-US" smtClean="0"/>
              <a:t>3/31/16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98DC-A4E7-1147-8FD9-30EF2F6E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1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764D-2724-E04E-9619-364F1CAAC102}" type="datetime1">
              <a:rPr lang="en-US" smtClean="0"/>
              <a:t>3/31/16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98DC-A4E7-1147-8FD9-30EF2F6E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1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ED880-B480-BF44-8834-43455CBADBC5}" type="datetime1">
              <a:rPr lang="en-US" smtClean="0"/>
              <a:t>3/31/16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98DC-A4E7-1147-8FD9-30EF2F6E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11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99970-7CA9-F44A-A4F2-57079C667E8F}" type="datetime1">
              <a:rPr lang="en-US" smtClean="0"/>
              <a:t>3/31/16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98DC-A4E7-1147-8FD9-30EF2F6E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5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D8C8-D876-084A-A305-516E9AB36A8D}" type="datetime1">
              <a:rPr lang="en-US" smtClean="0"/>
              <a:t>3/31/16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98DC-A4E7-1147-8FD9-30EF2F6E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4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19C84-8A61-4E46-B997-6E3D7F13D930}" type="datetime1">
              <a:rPr lang="en-US" smtClean="0"/>
              <a:t>3/31/16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98DC-A4E7-1147-8FD9-30EF2F6E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01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DD9D-6241-E04C-932E-BC4EF981A5C7}" type="datetime1">
              <a:rPr lang="en-US" smtClean="0"/>
              <a:t>3/31/16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98DC-A4E7-1147-8FD9-30EF2F6E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59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AF48-F45C-F741-9D32-7EF3DB5206DD}" type="datetime1">
              <a:rPr lang="en-US" smtClean="0"/>
              <a:t>3/31/16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98DC-A4E7-1147-8FD9-30EF2F6E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61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00A82-BE98-2349-9F96-F196E0544BE0}" type="datetime1">
              <a:rPr lang="en-US" smtClean="0"/>
              <a:t>3/31/16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98DC-A4E7-1147-8FD9-30EF2F6E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34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E6F1-0963-BD4B-AC67-F1C4C7C5F2A3}" type="datetime1">
              <a:rPr lang="en-US" smtClean="0"/>
              <a:t>3/31/16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98DC-A4E7-1147-8FD9-30EF2F6E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29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F62BE-9209-E44E-B741-8AB7A18D79EC}" type="datetime1">
              <a:rPr lang="en-US" smtClean="0"/>
              <a:t>3/31/16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098DC-A4E7-1147-8FD9-30EF2F6E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76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98DC-A4E7-1147-8FD9-30EF2F6E3245}" type="slidenum">
              <a:rPr lang="en-US" smtClean="0">
                <a:latin typeface="Arial"/>
                <a:cs typeface="Arial"/>
              </a:rPr>
              <a:t>1</a:t>
            </a:fld>
            <a:endParaRPr lang="en-US">
              <a:latin typeface="Arial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64761" y="1395301"/>
            <a:ext cx="1215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Arial"/>
                <a:cs typeface="Arial"/>
              </a:rPr>
              <a:t>TurKit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64761" y="2492579"/>
            <a:ext cx="1661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Arial"/>
                <a:cs typeface="Arial"/>
              </a:rPr>
              <a:t>Cascade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64761" y="3617580"/>
            <a:ext cx="13644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Arial"/>
                <a:cs typeface="Arial"/>
              </a:rPr>
              <a:t>Frenzy </a:t>
            </a:r>
          </a:p>
          <a:p>
            <a:endParaRPr lang="en-US" sz="2800" b="1" dirty="0">
              <a:latin typeface="Arial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064761" y="4732232"/>
            <a:ext cx="2272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Arial"/>
                <a:cs typeface="Arial"/>
              </a:rPr>
              <a:t>HumorTools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4761" y="1839849"/>
            <a:ext cx="5593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  <a:cs typeface="Arial"/>
              </a:rPr>
              <a:t>Problems too </a:t>
            </a:r>
            <a:r>
              <a:rPr lang="en-US" sz="2800" b="1" dirty="0" smtClean="0">
                <a:latin typeface="Arial"/>
                <a:cs typeface="Arial"/>
              </a:rPr>
              <a:t>hard</a:t>
            </a:r>
            <a:r>
              <a:rPr lang="en-US" sz="2800" dirty="0" smtClean="0">
                <a:latin typeface="Arial"/>
                <a:cs typeface="Arial"/>
              </a:rPr>
              <a:t> for one person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64761" y="2913887"/>
            <a:ext cx="5353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  <a:cs typeface="Arial"/>
              </a:rPr>
              <a:t>Problems too </a:t>
            </a:r>
            <a:r>
              <a:rPr lang="en-US" sz="2800" b="1" dirty="0" smtClean="0">
                <a:latin typeface="Arial"/>
                <a:cs typeface="Arial"/>
              </a:rPr>
              <a:t>big</a:t>
            </a:r>
            <a:r>
              <a:rPr lang="en-US" sz="2800" dirty="0" smtClean="0">
                <a:latin typeface="Arial"/>
                <a:cs typeface="Arial"/>
              </a:rPr>
              <a:t> for one person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10748" y="1236863"/>
            <a:ext cx="6981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 smtClean="0">
                <a:latin typeface="Arial"/>
                <a:cs typeface="Arial"/>
              </a:rPr>
              <a:t>1</a:t>
            </a:r>
            <a:endParaRPr lang="en-US" sz="7200" dirty="0">
              <a:latin typeface="Arial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64761" y="4062850"/>
            <a:ext cx="609165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  <a:cs typeface="Arial"/>
              </a:rPr>
              <a:t>Problems too </a:t>
            </a:r>
            <a:r>
              <a:rPr lang="en-US" sz="2800" b="1" dirty="0" smtClean="0">
                <a:latin typeface="Arial"/>
                <a:cs typeface="Arial"/>
              </a:rPr>
              <a:t>ill-defined</a:t>
            </a:r>
            <a:r>
              <a:rPr lang="en-US" sz="2800" dirty="0" smtClean="0">
                <a:latin typeface="Arial"/>
                <a:cs typeface="Arial"/>
              </a:rPr>
              <a:t> to automate</a:t>
            </a:r>
          </a:p>
          <a:p>
            <a:endParaRPr lang="en-US" sz="2800" dirty="0"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64761" y="5154815"/>
            <a:ext cx="5314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  <a:cs typeface="Arial"/>
              </a:rPr>
              <a:t>Problems that require </a:t>
            </a:r>
            <a:r>
              <a:rPr lang="en-US" sz="2800" b="1" dirty="0" smtClean="0">
                <a:latin typeface="Arial"/>
                <a:cs typeface="Arial"/>
              </a:rPr>
              <a:t>creativity</a:t>
            </a:r>
            <a:endParaRPr lang="en-US" sz="2800" b="1" dirty="0">
              <a:latin typeface="Arial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10748" y="2293396"/>
            <a:ext cx="6981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Arial"/>
                <a:cs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0748" y="3462676"/>
            <a:ext cx="6981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 smtClean="0">
                <a:latin typeface="Arial"/>
                <a:cs typeface="Arial"/>
              </a:rPr>
              <a:t>3</a:t>
            </a:r>
            <a:endParaRPr lang="en-US" sz="7200" dirty="0">
              <a:latin typeface="Arial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10748" y="4587482"/>
            <a:ext cx="6981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 smtClean="0">
                <a:latin typeface="Arial"/>
                <a:cs typeface="Arial"/>
              </a:rPr>
              <a:t>4</a:t>
            </a:r>
            <a:endParaRPr lang="en-US" sz="7200" dirty="0">
              <a:latin typeface="Arial"/>
              <a:cs typeface="Arial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93" y="4802417"/>
            <a:ext cx="929836" cy="934605"/>
          </a:xfrm>
          <a:prstGeom prst="rect">
            <a:avLst/>
          </a:prstGeom>
        </p:spPr>
      </p:pic>
      <p:sp>
        <p:nvSpPr>
          <p:cNvPr id="25" name="Rounded Rectangular Callout 24"/>
          <p:cNvSpPr/>
          <p:nvPr/>
        </p:nvSpPr>
        <p:spPr>
          <a:xfrm>
            <a:off x="966325" y="4957369"/>
            <a:ext cx="1289169" cy="631580"/>
          </a:xfrm>
          <a:prstGeom prst="wedgeRoundRectCallout">
            <a:avLst>
              <a:gd name="adj1" fmla="val -54010"/>
              <a:gd name="adj2" fmla="val 24838"/>
              <a:gd name="adj3" fmla="val 16667"/>
            </a:avLst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800" dirty="0">
              <a:latin typeface="Arial"/>
              <a:cs typeface="Arial"/>
            </a:endParaRP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28" t="33993" r="42188" b="53527"/>
          <a:stretch/>
        </p:blipFill>
        <p:spPr bwMode="auto">
          <a:xfrm>
            <a:off x="194234" y="3800781"/>
            <a:ext cx="1723662" cy="680717"/>
          </a:xfrm>
          <a:prstGeom prst="rect">
            <a:avLst/>
          </a:prstGeom>
          <a:noFill/>
          <a:ln w="19050" cmpd="sng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9" name="Picture 28" descr="C:\Users\mausam\Desktop\Capture.JPG"/>
          <p:cNvPicPr>
            <a:picLocks noChangeAspect="1" noChangeArrowheads="1"/>
          </p:cNvPicPr>
          <p:nvPr/>
        </p:nvPicPr>
        <p:blipFill rotWithShape="1">
          <a:blip r:embed="rId5" cstate="print"/>
          <a:srcRect l="4723" t="10806" r="53827" b="79520"/>
          <a:stretch/>
        </p:blipFill>
        <p:spPr bwMode="auto">
          <a:xfrm>
            <a:off x="162861" y="1527042"/>
            <a:ext cx="2198370" cy="387927"/>
          </a:xfrm>
          <a:prstGeom prst="rect">
            <a:avLst/>
          </a:prstGeom>
          <a:noFill/>
        </p:spPr>
      </p:pic>
      <p:grpSp>
        <p:nvGrpSpPr>
          <p:cNvPr id="2" name="Group 1"/>
          <p:cNvGrpSpPr/>
          <p:nvPr/>
        </p:nvGrpSpPr>
        <p:grpSpPr>
          <a:xfrm>
            <a:off x="179293" y="2550656"/>
            <a:ext cx="1723662" cy="825197"/>
            <a:chOff x="179293" y="2592032"/>
            <a:chExt cx="1723662" cy="825197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862" t="25065" b="52285"/>
            <a:stretch/>
          </p:blipFill>
          <p:spPr>
            <a:xfrm>
              <a:off x="179293" y="2883955"/>
              <a:ext cx="1723662" cy="533274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862" b="87123"/>
            <a:stretch/>
          </p:blipFill>
          <p:spPr>
            <a:xfrm>
              <a:off x="179293" y="2592032"/>
              <a:ext cx="1723662" cy="303193"/>
            </a:xfrm>
            <a:prstGeom prst="rect">
              <a:avLst/>
            </a:prstGeom>
          </p:spPr>
        </p:pic>
      </p:grpSp>
      <p:sp>
        <p:nvSpPr>
          <p:cNvPr id="26" name="Rectangle 25"/>
          <p:cNvSpPr/>
          <p:nvPr/>
        </p:nvSpPr>
        <p:spPr>
          <a:xfrm>
            <a:off x="697536" y="35146"/>
            <a:ext cx="7989263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en-US" sz="4000" b="1" dirty="0" smtClean="0">
                <a:latin typeface="Avenir Heavy"/>
                <a:cs typeface="Avenir Heavy"/>
              </a:rPr>
              <a:t>Adaptive Crowd Algorithms </a:t>
            </a:r>
          </a:p>
          <a:p>
            <a:pPr algn="ctr"/>
            <a:r>
              <a:rPr lang="en-US" sz="3200" b="1" dirty="0" smtClean="0">
                <a:latin typeface="Avenir Heavy"/>
                <a:cs typeface="Avenir Heavy"/>
              </a:rPr>
              <a:t>For Open-Ended Problems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4615" y="5874865"/>
            <a:ext cx="699477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latin typeface="Avenir Heavy"/>
                <a:cs typeface="Avenir Heavy"/>
              </a:rPr>
              <a:t>Lydia Chilton</a:t>
            </a:r>
            <a:endParaRPr lang="en-US" sz="2800" dirty="0" smtClean="0">
              <a:latin typeface="Avenir Heavy"/>
              <a:cs typeface="Avenir Heavy"/>
            </a:endParaRPr>
          </a:p>
          <a:p>
            <a:pPr algn="ctr"/>
            <a:r>
              <a:rPr lang="en-US" sz="2800" dirty="0" smtClean="0">
                <a:latin typeface="Avenir Heavy"/>
                <a:cs typeface="Avenir Heavy"/>
              </a:rPr>
              <a:t>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16273280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90254</TotalTime>
  <Words>82</Words>
  <Application>Microsoft Macintosh PowerPoint</Application>
  <PresentationFormat>On-screen Show (4:3)</PresentationFormat>
  <Paragraphs>23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Lydia Chilton</dc:creator>
  <cp:lastModifiedBy>Lydia Chilton</cp:lastModifiedBy>
  <cp:revision>512</cp:revision>
  <cp:lastPrinted>2016-02-17T19:25:30Z</cp:lastPrinted>
  <dcterms:created xsi:type="dcterms:W3CDTF">2016-01-10T18:02:32Z</dcterms:created>
  <dcterms:modified xsi:type="dcterms:W3CDTF">2016-04-02T02:53:56Z</dcterms:modified>
</cp:coreProperties>
</file>